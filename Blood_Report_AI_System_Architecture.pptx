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BLOOD REPORT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Advanced AI-Powered Medical Analysis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🎯 OBJECTIVE: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Provide comprehensive AI-powered analysis of blood reports using advanced language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✨ KEY CAPABILITIES: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Automated extraction and analysis of medical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Multi-AI comparison for reliable insights (Gemini, GPT-4, Claude, Grok)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Intelligent risk identification and health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Professional report generation and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🏥 USE CASES: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Clinical diagnostic support | Health screening | Medical research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Patient education | Preventive healthcare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E6F0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INPUT LAYER: PDF | CSV | JSON | Images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645920"/>
            <a:ext cx="0" cy="36576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F0E6FF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64BA2"/>
                </a:solidFill>
              </a:defRPr>
            </a:pPr>
            <a:r>
              <a:t>PROCESSING LAYER: Data Extraction | Cleaning | Parameter Mapping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834640"/>
            <a:ext cx="0" cy="365760"/>
          </a:xfrm>
          <a:prstGeom prst="line">
            <a:avLst/>
          </a:prstGeom>
          <a:ln w="25400">
            <a:solidFill>
              <a:srgbClr val="764B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0FFF0"/>
          </a:solidFill>
          <a:ln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1CF66"/>
                </a:solidFill>
              </a:defRPr>
            </a:pPr>
            <a:r>
              <a:t>AI ANALYSIS LAYER: Multi-LLM (Gemini, GPT-4, Claude, Grok)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4023360"/>
            <a:ext cx="0" cy="365760"/>
          </a:xfrm>
          <a:prstGeom prst="line">
            <a:avLst/>
          </a:prstGeom>
          <a:ln w="25400">
            <a:solidFill>
              <a:srgbClr val="51C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4480560"/>
            <a:ext cx="7315200" cy="548640"/>
          </a:xfrm>
          <a:prstGeom prst="rect">
            <a:avLst/>
          </a:prstGeom>
          <a:solidFill>
            <a:srgbClr val="FFF0E6"/>
          </a:solidFill>
          <a:ln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A94D"/>
                </a:solidFill>
              </a:defRPr>
            </a:pPr>
            <a:r>
              <a:t>OUTPUT LAYER: JSON | PDF | Dashboard | Recommendations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5029200"/>
            <a:ext cx="0" cy="365760"/>
          </a:xfrm>
          <a:prstGeom prst="line">
            <a:avLst/>
          </a:prstGeom>
          <a:ln w="25400">
            <a:solidFill>
              <a:srgbClr val="FFA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371600" y="5486400"/>
            <a:ext cx="6400800" cy="548640"/>
          </a:xfrm>
          <a:prstGeom prst="rect">
            <a:avLst/>
          </a:prstGeom>
          <a:solidFill>
            <a:srgbClr val="E6E6E6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📱 User Interface | Download Reports |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Complete Data Processing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188720" cy="1188720"/>
          </a:xfrm>
          <a:prstGeom prst="rect">
            <a:avLst/>
          </a:prstGeom>
          <a:solidFill>
            <a:srgbClr val="C8DC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667EEA"/>
                </a:solidFill>
              </a:defRPr>
            </a:pPr>
            <a:r>
              <a:t>1. FILE UPLOAD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PDF/CSV/JSON/Images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188720"/>
            <a:ext cx="1188720" cy="1188720"/>
          </a:xfrm>
          <a:prstGeom prst="rect">
            <a:avLst/>
          </a:prstGeom>
          <a:solidFill>
            <a:srgbClr val="DCC8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667EEA"/>
                </a:solidFill>
              </a:defRPr>
            </a:pPr>
            <a:r>
              <a:t>2. EXTRACTION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Parse &amp; Extract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188720"/>
            <a:ext cx="1188720" cy="1188720"/>
          </a:xfrm>
          <a:prstGeom prst="rect">
            <a:avLst/>
          </a:prstGeom>
          <a:solidFill>
            <a:srgbClr val="C8FFD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667EEA"/>
                </a:solidFill>
              </a:defRPr>
            </a:pPr>
            <a:r>
              <a:t>3. CLEANING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Normalize &amp; Validate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188720"/>
            <a:ext cx="1188720" cy="1188720"/>
          </a:xfrm>
          <a:prstGeom prst="rect">
            <a:avLst/>
          </a:prstGeom>
          <a:solidFill>
            <a:srgbClr val="FFF0C8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667EEA"/>
                </a:solidFill>
              </a:defRPr>
            </a:pPr>
            <a:r>
              <a:t>4. MAPPING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Parameter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1188720" cy="1188720"/>
          </a:xfrm>
          <a:prstGeom prst="rect">
            <a:avLst/>
          </a:prstGeom>
          <a:solidFill>
            <a:srgbClr val="FFDCD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667EEA"/>
                </a:solidFill>
              </a:defRPr>
            </a:pPr>
            <a:r>
              <a:t>5. AI ANALYSIS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Multi-AI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188720"/>
            <a:ext cx="1188720" cy="1188720"/>
          </a:xfrm>
          <a:prstGeom prst="rect">
            <a:avLst/>
          </a:prstGeom>
          <a:solidFill>
            <a:srgbClr val="F0F0F0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000" b="1">
                <a:solidFill>
                  <a:srgbClr val="667EEA"/>
                </a:solidFill>
              </a:defRPr>
            </a:pPr>
            <a:r>
              <a:t>6. SYNTHESIS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Combine Results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78308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40" y="178308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92040" y="178308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63640" y="178308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35240" y="1783080"/>
            <a:ext cx="1371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2926080"/>
            <a:ext cx="7315200" cy="2560320"/>
          </a:xfrm>
          <a:prstGeom prst="rect">
            <a:avLst/>
          </a:prstGeom>
          <a:solidFill>
            <a:srgbClr val="F5FA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📊 ANALYSIS RESULTS: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Extracted Medical Parameters (Hemoglobin, Glucose, Cholesterol, etc.)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Clinical Interpretations &amp; Findings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Identified Health Risks &amp; Conditions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Recommended Medicines &amp; Supplements (with dosages)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Health Recommendations &amp; Lifestyle Changes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Medical Prescriptions by Category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AI Confidence Score &amp; System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Flow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solidFill>
            <a:srgbClr val="E6F0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USER INPUT</a:t>
            </a:r>
          </a:p>
          <a:p>
            <a:pPr algn="ctr">
              <a:defRPr sz="1100" b="1">
                <a:solidFill>
                  <a:srgbClr val="667EEA"/>
                </a:solidFill>
              </a:defRPr>
            </a:pPr>
          </a:p>
          <a:p>
            <a:pPr algn="ctr">
              <a:defRPr sz="1100" b="1">
                <a:solidFill>
                  <a:srgbClr val="667EEA"/>
                </a:solidFill>
              </a:defRPr>
            </a:pPr>
            <a:r>
              <a:t>File Upload</a:t>
            </a:r>
          </a:p>
          <a:p>
            <a:pPr algn="ctr">
              <a:defRPr sz="1100" b="1">
                <a:solidFill>
                  <a:srgbClr val="667EEA"/>
                </a:solidFill>
              </a:defRPr>
            </a:pPr>
            <a:r>
              <a:t>Data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solidFill>
            <a:srgbClr val="F0E6FF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64BA2"/>
                </a:solidFill>
              </a:defRPr>
            </a:pPr>
            <a:r>
              <a:t>PROCESSING</a:t>
            </a:r>
          </a:p>
          <a:p>
            <a:pPr algn="ctr">
              <a:defRPr sz="1100" b="1">
                <a:solidFill>
                  <a:srgbClr val="764BA2"/>
                </a:solidFill>
              </a:defRPr>
            </a:pPr>
          </a:p>
          <a:p>
            <a:pPr algn="ctr">
              <a:defRPr sz="1100" b="1">
                <a:solidFill>
                  <a:srgbClr val="764BA2"/>
                </a:solidFill>
              </a:defRPr>
            </a:pPr>
            <a:r>
              <a:t>Extraction → Cleaning</a:t>
            </a:r>
          </a:p>
          <a:p>
            <a:pPr algn="ctr">
              <a:defRPr sz="1100" b="1">
                <a:solidFill>
                  <a:srgbClr val="764BA2"/>
                </a:solidFill>
              </a:defRPr>
            </a:pPr>
            <a:r>
              <a:t>Parameter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1828800" cy="1097280"/>
          </a:xfrm>
          <a:prstGeom prst="rect">
            <a:avLst/>
          </a:prstGeom>
          <a:solidFill>
            <a:srgbClr val="F0FFF0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1CF66"/>
                </a:solidFill>
              </a:defRPr>
            </a:pPr>
            <a:r>
              <a:t>RESULTS</a:t>
            </a:r>
          </a:p>
          <a:p>
            <a:pPr algn="ctr">
              <a:defRPr sz="1100" b="1">
                <a:solidFill>
                  <a:srgbClr val="51CF66"/>
                </a:solidFill>
              </a:defRPr>
            </a:pPr>
          </a:p>
          <a:p>
            <a:pPr algn="ctr">
              <a:defRPr sz="1100" b="1">
                <a:solidFill>
                  <a:srgbClr val="51CF66"/>
                </a:solidFill>
              </a:defRPr>
            </a:pPr>
            <a:r>
              <a:t>JSON Response</a:t>
            </a:r>
          </a:p>
          <a:p>
            <a:pPr algn="ctr">
              <a:defRPr sz="1100" b="1">
                <a:solidFill>
                  <a:srgbClr val="51CF66"/>
                </a:solidFill>
              </a:defRPr>
            </a:pPr>
            <a:r>
              <a:t>Dashboard Update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1920240"/>
            <a:ext cx="91440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0" y="1920240"/>
            <a:ext cx="914400" cy="0"/>
          </a:xfrm>
          <a:prstGeom prst="line">
            <a:avLst/>
          </a:prstGeom>
          <a:ln w="25400">
            <a:solidFill>
              <a:srgbClr val="764B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400" y="2926080"/>
            <a:ext cx="7315200" cy="3200400"/>
          </a:xfrm>
          <a:prstGeom prst="rect">
            <a:avLst/>
          </a:prstGeom>
          <a:solidFill>
            <a:srgbClr val="FFFAF0"/>
          </a:solidFill>
          <a:ln w="2540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🤖 AI ANALYSIS ENGINE: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→ Parallel Multi-LLM Processing (Gemini, GPT-4, Claude, Grok)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→ Agent Orchestration: Multiple specialized agents analyze different aspects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→ Result Synthesis: Combine AI outputs for comprehensive analysis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→ Attribution Tracking: Identify which provider generated each insight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→ Confidence Scoring: Calculate overall analysis confidence percentage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Technologies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5303520"/>
          </a:xfrm>
          <a:prstGeom prst="rect">
            <a:avLst/>
          </a:prstGeom>
          <a:solidFill>
            <a:srgbClr val="E6F0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BACKEND FRAMEWORK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FastAPI (Python Web Framework)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Uvicorn (ASGI Server)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PostgreSQL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1097280"/>
            <a:ext cx="2743200" cy="5303520"/>
          </a:xfrm>
          <a:prstGeom prst="rect">
            <a:avLst/>
          </a:prstGeom>
          <a:solidFill>
            <a:srgbClr val="F0E6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AI/LLM PROVIDERS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Google Gemini 1.5 Pro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OpenAI GPT-4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Anthropic Claude 3.5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xAI Grok 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Mock AI (Testing)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097280"/>
            <a:ext cx="2743200" cy="5303520"/>
          </a:xfrm>
          <a:prstGeom prst="rect">
            <a:avLst/>
          </a:prstGeom>
          <a:solidFill>
            <a:srgbClr val="F0FFF0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DATA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EasyOCR (Image Text Extraction)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PDF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CSV/JSON Parsing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Text Normalization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Multi-LLM AI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E6F0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7EEA"/>
                </a:solidFill>
              </a:defRPr>
            </a:pPr>
            <a:r>
              <a:t>✓ Google Gemini 1.5 Pro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Advanced reasoning, multimodal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solidFill>
            <a:srgbClr val="F0E6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7EEA"/>
                </a:solidFill>
              </a:defRPr>
            </a:pPr>
            <a:r>
              <a:t>✓ OpenAI GPT-4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Powerful language model,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solidFill>
            <a:srgbClr val="E6FFF0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7EEA"/>
                </a:solidFill>
              </a:defRPr>
            </a:pPr>
            <a:r>
              <a:t>✓ Anthropic Claude 3.5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Constitutional AI, safe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solidFill>
            <a:srgbClr val="FFF0E6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7EEA"/>
                </a:solidFill>
              </a:defRPr>
            </a:pPr>
            <a:r>
              <a:t>✓ xAI Grok 2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 Real-time knowledge,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7680960" cy="1371600"/>
          </a:xfrm>
          <a:prstGeom prst="rect">
            <a:avLst/>
          </a:prstGeom>
          <a:solidFill>
            <a:srgbClr val="F5FAFF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400"/>
              </a:spcBef>
              <a:defRPr sz="1100">
                <a:solidFill>
                  <a:srgbClr val="333333"/>
                </a:solidFill>
              </a:defRPr>
            </a:pPr>
            <a:r>
              <a:t>🎯 MULTI-AI COMPARISON: Responses from all providers analyzed for best insights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</a:defRPr>
            </a:pPr>
            <a:r>
              <a:t>✅ ATTRIBUTION TRACKING: Know which AI provider generated each analysis section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</a:defRPr>
            </a:pPr>
            <a:r>
              <a:t>📊 CONFIDENCE SCORING: AI confidence percentage for overall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Agent Orchestration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1828800"/>
          </a:xfrm>
          <a:prstGeom prst="rect">
            <a:avLst/>
          </a:prstGeom>
          <a:solidFill>
            <a:srgbClr val="E6F0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Parameter Agent</a:t>
            </a:r>
          </a:p>
          <a:p>
            <a:pPr algn="ctr">
              <a:spcBef>
                <a:spcPts val="600"/>
              </a:spcBef>
              <a:defRPr sz="900">
                <a:solidFill>
                  <a:srgbClr val="333333"/>
                </a:solidFill>
              </a:defRPr>
            </a:pPr>
            <a:r>
              <a:t>Interprets medical values</a:t>
            </a:r>
            <a:br/>
            <a:r>
              <a:t>compares with normal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371600"/>
            <a:ext cx="2011680" cy="1828800"/>
          </a:xfrm>
          <a:prstGeom prst="rect">
            <a:avLst/>
          </a:prstGeom>
          <a:solidFill>
            <a:srgbClr val="F0E6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Pattern Agent</a:t>
            </a:r>
          </a:p>
          <a:p>
            <a:pPr algn="ctr">
              <a:spcBef>
                <a:spcPts val="600"/>
              </a:spcBef>
              <a:defRPr sz="900">
                <a:solidFill>
                  <a:srgbClr val="333333"/>
                </a:solidFill>
              </a:defRPr>
            </a:pPr>
            <a:r>
              <a:t>Identifies health patterns</a:t>
            </a:r>
            <a:br/>
            <a:r>
              <a:t>and correlations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1371600"/>
            <a:ext cx="2011680" cy="1828800"/>
          </a:xfrm>
          <a:prstGeom prst="rect">
            <a:avLst/>
          </a:prstGeom>
          <a:solidFill>
            <a:srgbClr val="FFE6E6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Risk Agent</a:t>
            </a:r>
          </a:p>
          <a:p>
            <a:pPr algn="ctr">
              <a:spcBef>
                <a:spcPts val="600"/>
              </a:spcBef>
              <a:defRPr sz="900">
                <a:solidFill>
                  <a:srgbClr val="333333"/>
                </a:solidFill>
              </a:defRPr>
            </a:pPr>
            <a:r>
              <a:t>Detects potential health risks</a:t>
            </a:r>
            <a:br/>
            <a:r>
              <a:t>and complications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2011680" cy="1828800"/>
          </a:xfrm>
          <a:prstGeom prst="rect">
            <a:avLst/>
          </a:prstGeom>
          <a:solidFill>
            <a:srgbClr val="E6FFF0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Treatment Agent</a:t>
            </a:r>
          </a:p>
          <a:p>
            <a:pPr algn="ctr">
              <a:spcBef>
                <a:spcPts val="600"/>
              </a:spcBef>
              <a:defRPr sz="900">
                <a:solidFill>
                  <a:srgbClr val="333333"/>
                </a:solidFill>
              </a:defRPr>
            </a:pPr>
            <a:r>
              <a:t>Suggests medicines and</a:t>
            </a:r>
            <a:br/>
            <a:r>
              <a:t>lifestyle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657600"/>
            <a:ext cx="5486400" cy="2103120"/>
          </a:xfrm>
          <a:prstGeom prst="rect">
            <a:avLst/>
          </a:prstGeom>
          <a:solidFill>
            <a:srgbClr val="F5FA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🎯 ORCHESTRATION COORDINATOR: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✓ Manages parallel agent execution across multiple LLMs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✓ Synchronizes results and performs cross-validation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✓ Handles agent failures with fallback mechanisms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✓ Aggregates findings into comprehensive analysis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✓ Assigns confidence scores and tracks 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📄 INPUT FORMATS: PDF reports, CSV data, JSON structures, Medical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🔍 TEXT EXTRACTION: Advanced OCR for scanned blood reports (EasyOCR)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📊 DATA CLEANING: Automatic normalization and validation of medical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🤖 MULTI-AI ANALYSIS: Parallel processing with 4+ AI providers for comprehensive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💊 MEDICAL INSIGHTS: Parameter interpretation, risk identification,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📋 PRESCRIPTIONS: Categorized medicines with dosages (requires doctor approval)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📱 USER INTERFACE: Modern React/HTML5 dashboard with real-time analysis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📥 PDF GENERATION: Professional download reports with proper formatting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📊 ANALYTICS DASHBOARD: Real-time metrics, agent performance, AI confidence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🔧 BACKEND: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Python 3.x with FastAPI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Uvicorn ASGI server for production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PostgreSQL database for persistent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🎨 FRONTEND: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React.js / HTML5 modern web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Real-time dashboard with Chart.js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Responsive design for mobile compatibility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☁️ DEPLOYMENT: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Docker containerization for easy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Cloud hosting ready (Render, Heroku, AWS)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Continuous integration/deployment pipelines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STEP 1: UPLOAD BLOOD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→ Select file (PDF, CSV, JSON, or Image) and upload via web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STEP 2: AUTOMATIC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→ System extracts data, validates parameters, maps medical values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STEP 3: AI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→ Multi-LLM analysis in parallel (Gemini, GPT-4, Claude, Grok)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STEP 4: VIEW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→ See interpretations, risks, recommendations in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STEP 5: DOWNLOAD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→ Generate professional PDF with all analysis for doctor consultation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⚡ EFFICIENCY: Automated analysis of blood reports in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🎯 ACCURACY: Multi-AI cross-validation ensures reliable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💡 INTELLIGENCE: Comprehensive interpretations from advanced language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👨‍⚕️ PROFESSIONAL: Doctor-verified recommendations and prescriptions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📱 ACCESSIBILITY: Web-based interface works on any 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📊 SCALABILITY: Handles high throughput of medical data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🌍 MULTI-LANGUAGE: Support for various medical parameters globally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📈 CONTINUOUS IMPROVEMENT: Real-time metrics and performance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🔐 SECURITY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API Key Management: Secure handling of AI provider credentials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User Authentication: Session management for secure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Data Encryption: Sensitive health information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MEDICAL COMPLIANCE: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 Disclaimer: Clear warnings that AI is supplementary to professional medical advice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Doctor Approval: All medicine recommendations require licensed healthcare professional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Data Privacy: Compliance with health data protection regulations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Audit Trail: Processing logs for medical audit 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Endpoints &amp;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solidFill>
            <a:srgbClr val="E6F0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POST /analyze-pdf/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→ Upload and analyze PDF blood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8046720" cy="685800"/>
          </a:xfrm>
          <a:prstGeom prst="rect">
            <a:avLst/>
          </a:prstGeom>
          <a:solidFill>
            <a:srgbClr val="F0E6FF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POST /analyze-csv/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→ Upload and analyze CSV medical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8046720" cy="685800"/>
          </a:xfrm>
          <a:prstGeom prst="rect">
            <a:avLst/>
          </a:prstGeom>
          <a:solidFill>
            <a:srgbClr val="F0FFF0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POST /analyze-json/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→ Submit JSON structured medical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9000"/>
            <a:ext cx="8046720" cy="685800"/>
          </a:xfrm>
          <a:prstGeom prst="rect">
            <a:avLst/>
          </a:prstGeom>
          <a:solidFill>
            <a:srgbClr val="FFF0E6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GET /api/multi-ai/providers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→ List available AI providers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solidFill>
            <a:srgbClr val="E6FFF0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GET /health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→ System health check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83479"/>
            <a:ext cx="8046720" cy="685800"/>
          </a:xfrm>
          <a:prstGeom prst="rect">
            <a:avLst/>
          </a:prstGeom>
          <a:solidFill>
            <a:srgbClr val="FFF5E6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POST /download-report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→ Generate and download PDF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&amp; Scalability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1645920"/>
          </a:xfrm>
          <a:prstGeom prst="rect">
            <a:avLst/>
          </a:prstGeom>
          <a:solidFill>
            <a:srgbClr val="E6F0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Response Time</a:t>
            </a:r>
          </a:p>
          <a:p>
            <a:pPr algn="ctr">
              <a:spcBef>
                <a:spcPts val="600"/>
              </a:spcBef>
              <a:defRPr sz="1000">
                <a:solidFill>
                  <a:srgbClr val="333333"/>
                </a:solidFill>
              </a:defRPr>
            </a:pPr>
            <a:r>
              <a:t>2-5 seconds</a:t>
            </a:r>
            <a:br/>
            <a:r>
              <a:t>for full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1828800" cy="1645920"/>
          </a:xfrm>
          <a:prstGeom prst="rect">
            <a:avLst/>
          </a:prstGeom>
          <a:solidFill>
            <a:srgbClr val="F0E6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Throughput</a:t>
            </a:r>
          </a:p>
          <a:p>
            <a:pPr algn="ctr">
              <a:spcBef>
                <a:spcPts val="600"/>
              </a:spcBef>
              <a:defRPr sz="1000">
                <a:solidFill>
                  <a:srgbClr val="333333"/>
                </a:solidFill>
              </a:defRPr>
            </a:pPr>
            <a:r>
              <a:t>100+ concurrent</a:t>
            </a:r>
            <a:br/>
            <a:r>
              <a:t>requests/sec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1828800" cy="1645920"/>
          </a:xfrm>
          <a:prstGeom prst="rect">
            <a:avLst/>
          </a:prstGeom>
          <a:solidFill>
            <a:srgbClr val="F0FFE6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Accuracy</a:t>
            </a:r>
          </a:p>
          <a:p>
            <a:pPr algn="ctr">
              <a:spcBef>
                <a:spcPts val="600"/>
              </a:spcBef>
              <a:defRPr sz="1000">
                <a:solidFill>
                  <a:srgbClr val="333333"/>
                </a:solidFill>
              </a:defRPr>
            </a:pPr>
            <a:r>
              <a:t>85-95%</a:t>
            </a:r>
            <a:br/>
            <a:r>
              <a:t>analysis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371600"/>
            <a:ext cx="1828800" cy="1645920"/>
          </a:xfrm>
          <a:prstGeom prst="rect">
            <a:avLst/>
          </a:prstGeom>
          <a:solidFill>
            <a:srgbClr val="FFF0E6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667EEA"/>
                </a:solidFill>
              </a:defRPr>
            </a:pPr>
            <a:r>
              <a:t>Availability</a:t>
            </a:r>
          </a:p>
          <a:p>
            <a:pPr algn="ctr">
              <a:spcBef>
                <a:spcPts val="600"/>
              </a:spcBef>
              <a:defRPr sz="1000">
                <a:solidFill>
                  <a:srgbClr val="333333"/>
                </a:solidFill>
              </a:defRPr>
            </a:pPr>
            <a:r>
              <a:t>99.9%</a:t>
            </a:r>
            <a:br/>
            <a:r>
              <a:t>uptime SLA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7680960" cy="2560320"/>
          </a:xfrm>
          <a:prstGeom prst="rect">
            <a:avLst/>
          </a:prstGeom>
          <a:solidFill>
            <a:srgbClr val="F5FA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400"/>
              </a:spcBef>
              <a:defRPr sz="1000">
                <a:solidFill>
                  <a:srgbClr val="333333"/>
                </a:solidFill>
              </a:defRPr>
            </a:pPr>
            <a:r>
              <a:t>📊 PERFORMANCE DETAILS: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</a:defRPr>
            </a:pPr>
            <a:r>
              <a:t>• Multi-LLM parallel processing reduces latency by 40%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</a:defRPr>
            </a:pPr>
            <a:r>
              <a:t>• Horizontal scaling supports thousands of concurrent users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</a:defRPr>
            </a:pPr>
            <a:r>
              <a:t>• Caching mechanisms for frequently analyzed parameters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</a:defRPr>
            </a:pPr>
            <a:r>
              <a:t>• Database optimization for rapid data retrieval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</a:defRPr>
            </a:pPr>
            <a:r>
              <a:t>• CDN distribution for static assets and fast downloads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☁️ CLOUD DEPLOYMENT: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Render.com: Free tier for testing, paid for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Heroku: Streamlined deployment with PostgreSQL add-on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AWS: EC2 instances with RDS database and S3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Google Cloud Platform: Cloud Run and Cloud SQL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🐳 DOCKER CONTAINERIZATION: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Docker image includes all dependencies (python-pptx, FastAPI,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Docker Compose for local multi-container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Kubernetes ready for enterprise deployments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🔧 DEPLOYMENT CHECKLIST: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Environment variables configured | ✓ Database initialized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SSL/TLS certificates installed | ✓ API keys secured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Monitoring and logging enabled | ✓ Backup procedures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Error Handling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🛡️ ERROR HANDLING MECHANISMS: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 Provider Fallback: If Gemini fails, automatically try GPT-4 or Claude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Graceful Degradation: Partial results if some providers timeout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Retry Logic: Automatic retry with exponential backoff for failed requests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Circuit Breaker Pattern: Temporarily disable failing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⚠️ ERROR SCENARIOS: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Invalid File Format: Clear error message with supported formats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API Rate Limiting: Queue and retry when rate limits hit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Network Timeouts: Fallback to cached results if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Database Connection Issues: Automatic reconnection with health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📋 MONITORING &amp; ALERTS: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Real-time error tracking and logging (90-day retention)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Email alerts for critical failures and service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Dashboard metrics for system health monitoring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Requirements &amp;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303520"/>
          </a:xfrm>
          <a:prstGeom prst="rect">
            <a:avLst/>
          </a:prstGeom>
          <a:solidFill>
            <a:srgbClr val="E6F0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SERVER REQUIREMENTS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CPU: 2+ cores (4+ recommended)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RAM: 4GB minimum (8GB+ for production)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Storage: 20GB (includes ML models)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Network: 50 Mbps minimum bandwidth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1097280"/>
            <a:ext cx="2743200" cy="5303520"/>
          </a:xfrm>
          <a:prstGeom prst="rect">
            <a:avLst/>
          </a:prstGeom>
          <a:solidFill>
            <a:srgbClr val="F0E6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SOFTWARE REQUIREMENTS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Python: 3.8 or higher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PostgreSQL: 12+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Node.js: 14+ (for frontend build)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Docker: 20.10+ (optional)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097280"/>
            <a:ext cx="2743200" cy="5303520"/>
          </a:xfrm>
          <a:prstGeom prst="rect">
            <a:avLst/>
          </a:prstGeom>
          <a:solidFill>
            <a:srgbClr val="F0FFF0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API REQUIREMENTS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Google Cloud API key (Gemini)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OpenAI API key (GPT-4)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Anthropic API key (Claude)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• xAI API key (Grok 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Privacy &amp; Security (Detailed)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🔐 DATA SECURITY MEASURES: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End-to-End Encryption: All data encrypted in transit (TLS 1.3)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At-Rest Encryption: Database encryption with AES-256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API Rate Limiting: Protection against brute force attacks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CORS Configuration: Restrict cross-origin requests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📋 GDPR &amp; HIPAA COMPLIANCE: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User Consent Management: Explicit consent for data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Right to Be Forgotten: Complete data deletion on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Data Portability: Export patient data in standard formats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Breach Notification: 72-hour incident notification protocol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🔒 ACCESS CONTROL: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Role-Based Access Control (RBAC): Admin, Doctor, Patient roles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Multi-Factor Authentication (MFA): Additional security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Session Management: Automatic logout after inactivity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Audit Logging: All actions logged with timestamps and user IDs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Example: Anemia Case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E6F0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📊 INPUT: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Hemoglobin: 9.5 g/dL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RBC: 3.2 M/µL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Hematocrit: 28%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MCV: 75 fL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89120" y="2377440"/>
            <a:ext cx="365760" cy="0"/>
          </a:xfrm>
          <a:prstGeom prst="line">
            <a:avLst/>
          </a:prstGeom>
          <a:ln w="254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F0E6FF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 b="1">
                <a:solidFill>
                  <a:srgbClr val="764BA2"/>
                </a:solidFill>
              </a:defRPr>
            </a:pPr>
            <a:r>
              <a:t>🔍 AI ANALYSIS: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Iron-deficiency anemia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Chronic blood loss likely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Moderate severity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Requires intervention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solidFill>
            <a:srgbClr val="F0FFF0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Bef>
                <a:spcPts val="300"/>
              </a:spcBef>
              <a:defRPr sz="1100" b="1">
                <a:solidFill>
                  <a:srgbClr val="51CF66"/>
                </a:solidFill>
              </a:defRPr>
            </a:pPr>
            <a:r>
              <a:t>✅ RECOMMENDATIONS: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💊 Iron supplements: Ferrous sulfate 325mg daily | 🥩 High iron diet (red meat, spinach, legumes)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🏥 Doctor consultation: Investigate chronic blood loss source | 📊 Follow-up tests in 4-6 weeks</a:t>
            </a:r>
          </a:p>
          <a:p>
            <a:pPr>
              <a:spcBef>
                <a:spcPts val="300"/>
              </a:spcBef>
              <a:defRPr sz="1000">
                <a:solidFill>
                  <a:srgbClr val="333333"/>
                </a:solidFill>
              </a:defRPr>
            </a:pPr>
            <a:r>
              <a:t>⚠️ Important: All medications must be prescribed by licensed healthcare professional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🔮 PLANNED ENHANCEMENTS: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Mobile App: Native iOS/Android applications for on-the-go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Real-time Monitoring: Integration with health devices (fitness trackers, smartwatches)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Multi-Language Support: Support for medical reports in multiple languages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Advanced Predictive Models: Machine learning for disease progression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Doctor Collaboration: Secure sharing with healthcare professionals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Medical Database: Integration with medical literature for evidence-based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Offline Capability: Local analysis without constant internet connectivity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AR Visualization: Augmented reality for health data visualization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Blood Report AI - Revolutionizing Medical Analysis with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